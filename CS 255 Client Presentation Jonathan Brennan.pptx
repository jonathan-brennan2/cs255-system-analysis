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notesSlides/notesSlide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sldIdLst>
    <p:sldId id="258" r:id="rId2"/>
    <p:sldId id="260" r:id="rId3"/>
    <p:sldId id="261" r:id="rId4"/>
    <p:sldId id="267" r:id="rId5"/>
    <p:sldId id="263" r:id="rId6"/>
    <p:sldId id="265" r:id="rId7"/>
  </p:sldIdLst>
  <p:sldSz cx="12192000" cy="6858000"/>
  <p:notesSz cx="6858000" cy="9144000"/>
  <p:custDataLst>
    <p:tags r:id="rId9"/>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141DD7B-51E6-438D-96F1-DA46D61357ED}" v="11" dt="2026-10-23T21:46:33.42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66" autoAdjust="0"/>
    <p:restoredTop sz="65796" autoAdjust="0"/>
  </p:normalViewPr>
  <p:slideViewPr>
    <p:cSldViewPr snapToGrid="0">
      <p:cViewPr varScale="1">
        <p:scale>
          <a:sx n="58" d="100"/>
          <a:sy n="58" d="100"/>
        </p:scale>
        <p:origin x="1308" y="3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tags" Target="tags/tag1.xml"/><Relationship Id="rId14"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5C20BB3-3CCB-4FE5-991B-82F6BCB48AF3}" type="datetimeFigureOut">
              <a:rPr lang="en-US" smtClean="0"/>
              <a:t>10/23/2026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0746DE6-3336-457D-A091-FA20AC1C536E}" type="slidenum">
              <a:rPr lang="en-US" smtClean="0"/>
              <a:t>‹#›</a:t>
            </a:fld>
            <a:endParaRPr lang="en-US"/>
          </a:p>
        </p:txBody>
      </p:sp>
    </p:spTree>
    <p:extLst>
      <p:ext uri="{BB962C8B-B14F-4D97-AF65-F5344CB8AC3E}">
        <p14:creationId xmlns:p14="http://schemas.microsoft.com/office/powerpoint/2010/main" val="8562944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a:t>
            </a:r>
            <a:r>
              <a:rPr lang="en-US" baseline="0" dirty="0"/>
              <a:t> speaker notes required for this slide.]</a:t>
            </a:r>
            <a:endParaRPr lang="en-US" dirty="0"/>
          </a:p>
        </p:txBody>
      </p:sp>
      <p:sp>
        <p:nvSpPr>
          <p:cNvPr id="4" name="Slide Number Placeholder 3"/>
          <p:cNvSpPr>
            <a:spLocks noGrp="1"/>
          </p:cNvSpPr>
          <p:nvPr>
            <p:ph type="sldNum" sz="quarter" idx="10"/>
          </p:nvPr>
        </p:nvSpPr>
        <p:spPr/>
        <p:txBody>
          <a:bodyPr/>
          <a:lstStyle/>
          <a:p>
            <a:fld id="{E0746DE6-3336-457D-A091-FA20AC1C536E}" type="slidenum">
              <a:rPr lang="en-US" smtClean="0"/>
              <a:t>1</a:t>
            </a:fld>
            <a:endParaRPr lang="en-US"/>
          </a:p>
        </p:txBody>
      </p:sp>
    </p:spTree>
    <p:extLst>
      <p:ext uri="{BB962C8B-B14F-4D97-AF65-F5344CB8AC3E}">
        <p14:creationId xmlns:p14="http://schemas.microsoft.com/office/powerpoint/2010/main" val="42162425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highlights how our system supports </a:t>
            </a:r>
            <a:r>
              <a:rPr lang="en-US" dirty="0" err="1"/>
              <a:t>DriverPass</a:t>
            </a:r>
            <a:r>
              <a:rPr lang="en-US" dirty="0"/>
              <a:t>. For students, the calendar handles bookings automatically, while self-paced practice tests grade themselves to help them pass their exams. Under the hood, pages load in under two seconds and accounts lock after repeated failed logins to keep data safe. It's built to be fast, reliable, and straightforward]</a:t>
            </a:r>
          </a:p>
        </p:txBody>
      </p:sp>
      <p:sp>
        <p:nvSpPr>
          <p:cNvPr id="4" name="Slide Number Placeholder 3"/>
          <p:cNvSpPr>
            <a:spLocks noGrp="1"/>
          </p:cNvSpPr>
          <p:nvPr>
            <p:ph type="sldNum" sz="quarter" idx="10"/>
          </p:nvPr>
        </p:nvSpPr>
        <p:spPr/>
        <p:txBody>
          <a:bodyPr/>
          <a:lstStyle/>
          <a:p>
            <a:fld id="{E0746DE6-3336-457D-A091-FA20AC1C536E}" type="slidenum">
              <a:rPr lang="en-US" smtClean="0"/>
              <a:t>2</a:t>
            </a:fld>
            <a:endParaRPr lang="en-US"/>
          </a:p>
        </p:txBody>
      </p:sp>
    </p:spTree>
    <p:extLst>
      <p:ext uri="{BB962C8B-B14F-4D97-AF65-F5344CB8AC3E}">
        <p14:creationId xmlns:p14="http://schemas.microsoft.com/office/powerpoint/2010/main" val="3399264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layout details exactly how different people interact with the software. We map out roles for your students, instructors, and office staff. It shows how students book lessons, take tests, and process payments seamlessly, while instructors add notes and staff manage the schedules. This organizes your entire operation into a single, straightforward system.]</a:t>
            </a:r>
          </a:p>
        </p:txBody>
      </p:sp>
      <p:sp>
        <p:nvSpPr>
          <p:cNvPr id="4" name="Slide Number Placeholder 3"/>
          <p:cNvSpPr>
            <a:spLocks noGrp="1"/>
          </p:cNvSpPr>
          <p:nvPr>
            <p:ph type="sldNum" sz="quarter" idx="10"/>
          </p:nvPr>
        </p:nvSpPr>
        <p:spPr/>
        <p:txBody>
          <a:bodyPr/>
          <a:lstStyle/>
          <a:p>
            <a:fld id="{E0746DE6-3336-457D-A091-FA20AC1C536E}" type="slidenum">
              <a:rPr lang="en-US" smtClean="0"/>
              <a:t>3</a:t>
            </a:fld>
            <a:endParaRPr lang="en-US"/>
          </a:p>
        </p:txBody>
      </p:sp>
    </p:spTree>
    <p:extLst>
      <p:ext uri="{BB962C8B-B14F-4D97-AF65-F5344CB8AC3E}">
        <p14:creationId xmlns:p14="http://schemas.microsoft.com/office/powerpoint/2010/main" val="22628351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flow chart details how a student books a driving lesson step-by-step. The system displays open times, checks availability instantly to prevent double-booking, and safely confirms payment. If a slot is taken or payment fails, it guides the student smoothly back to try another time. This keeps booking fast and error-free for your clients.]</a:t>
            </a:r>
          </a:p>
        </p:txBody>
      </p:sp>
      <p:sp>
        <p:nvSpPr>
          <p:cNvPr id="4" name="Slide Number Placeholder 3"/>
          <p:cNvSpPr>
            <a:spLocks noGrp="1"/>
          </p:cNvSpPr>
          <p:nvPr>
            <p:ph type="sldNum" sz="quarter" idx="10"/>
          </p:nvPr>
        </p:nvSpPr>
        <p:spPr/>
        <p:txBody>
          <a:bodyPr/>
          <a:lstStyle/>
          <a:p>
            <a:fld id="{E0746DE6-3336-457D-A091-FA20AC1C536E}" type="slidenum">
              <a:rPr lang="en-US" smtClean="0"/>
              <a:t>4</a:t>
            </a:fld>
            <a:endParaRPr lang="en-US"/>
          </a:p>
        </p:txBody>
      </p:sp>
    </p:spTree>
    <p:extLst>
      <p:ext uri="{BB962C8B-B14F-4D97-AF65-F5344CB8AC3E}">
        <p14:creationId xmlns:p14="http://schemas.microsoft.com/office/powerpoint/2010/main" val="8961842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 is a top priority for protecting your students and your business data. This design protects passwords and personal details by scrambling them so hackers cannot read them. We have also added an automatic lock feature to block anyone attempting to repeatedly guess a password. If a user genuine forgets theirs, they receive a secure, time-limited reset email. This keeps your system safe without complicating things for your customers.]</a:t>
            </a:r>
          </a:p>
        </p:txBody>
      </p:sp>
      <p:sp>
        <p:nvSpPr>
          <p:cNvPr id="4" name="Slide Number Placeholder 3"/>
          <p:cNvSpPr>
            <a:spLocks noGrp="1"/>
          </p:cNvSpPr>
          <p:nvPr>
            <p:ph type="sldNum" sz="quarter" idx="10"/>
          </p:nvPr>
        </p:nvSpPr>
        <p:spPr/>
        <p:txBody>
          <a:bodyPr/>
          <a:lstStyle/>
          <a:p>
            <a:fld id="{E0746DE6-3336-457D-A091-FA20AC1C536E}" type="slidenum">
              <a:rPr lang="en-US" smtClean="0"/>
              <a:t>5</a:t>
            </a:fld>
            <a:endParaRPr lang="en-US"/>
          </a:p>
        </p:txBody>
      </p:sp>
    </p:spTree>
    <p:extLst>
      <p:ext uri="{BB962C8B-B14F-4D97-AF65-F5344CB8AC3E}">
        <p14:creationId xmlns:p14="http://schemas.microsoft.com/office/powerpoint/2010/main" val="34916115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[To keep expectations clear, we want to highlight what the system does not do. This application focuses strictly on scheduling lessons and managing online practice tests. It does not handle vehicle maintenance, track car fuel, or process your company's tax documents. Additionally, because it operates entirely online, users need an active internet connection to interact with it, and payments rely on outside banking systems. Keeping the scope focused this way ensures the core tool remains incredibly reliable and fast.]</a:t>
            </a:r>
          </a:p>
        </p:txBody>
      </p:sp>
      <p:sp>
        <p:nvSpPr>
          <p:cNvPr id="4" name="Slide Number Placeholder 3"/>
          <p:cNvSpPr>
            <a:spLocks noGrp="1"/>
          </p:cNvSpPr>
          <p:nvPr>
            <p:ph type="sldNum" sz="quarter" idx="10"/>
          </p:nvPr>
        </p:nvSpPr>
        <p:spPr/>
        <p:txBody>
          <a:bodyPr/>
          <a:lstStyle/>
          <a:p>
            <a:fld id="{E0746DE6-3336-457D-A091-FA20AC1C536E}" type="slidenum">
              <a:rPr lang="en-US" smtClean="0"/>
              <a:t>6</a:t>
            </a:fld>
            <a:endParaRPr lang="en-US"/>
          </a:p>
        </p:txBody>
      </p:sp>
    </p:spTree>
    <p:extLst>
      <p:ext uri="{BB962C8B-B14F-4D97-AF65-F5344CB8AC3E}">
        <p14:creationId xmlns:p14="http://schemas.microsoft.com/office/powerpoint/2010/main" val="9706606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0391AB-F383-4237-A071-AD1C6E9246D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F6636DA-4FDE-4B32-8CCE-37EFA3E7579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0F87932-8FF0-4DF1-A776-9A3CE37618A7}"/>
              </a:ext>
            </a:extLst>
          </p:cNvPr>
          <p:cNvSpPr>
            <a:spLocks noGrp="1"/>
          </p:cNvSpPr>
          <p:nvPr>
            <p:ph type="dt" sz="half" idx="10"/>
          </p:nvPr>
        </p:nvSpPr>
        <p:spPr/>
        <p:txBody>
          <a:bodyPr/>
          <a:lstStyle/>
          <a:p>
            <a:fld id="{5D6495F3-B757-4FAF-98AA-EDA7D1485485}" type="datetimeFigureOut">
              <a:rPr lang="en-US" smtClean="0"/>
              <a:t>10/23/2026</a:t>
            </a:fld>
            <a:endParaRPr lang="en-US"/>
          </a:p>
        </p:txBody>
      </p:sp>
      <p:sp>
        <p:nvSpPr>
          <p:cNvPr id="5" name="Footer Placeholder 4">
            <a:extLst>
              <a:ext uri="{FF2B5EF4-FFF2-40B4-BE49-F238E27FC236}">
                <a16:creationId xmlns:a16="http://schemas.microsoft.com/office/drawing/2014/main" id="{5F38FAB8-C9F1-4DBB-B355-D8DEE370657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4490E3-D8E8-4766-9104-14009BF5636F}"/>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34569019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CBC967-18DB-4664-9B4D-06177FB946B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ADF7174-64B4-4D8F-BF44-3DD1F66CAD0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5CD83D3-86C4-482F-A2DC-B4C55DBF3F7A}"/>
              </a:ext>
            </a:extLst>
          </p:cNvPr>
          <p:cNvSpPr>
            <a:spLocks noGrp="1"/>
          </p:cNvSpPr>
          <p:nvPr>
            <p:ph type="dt" sz="half" idx="10"/>
          </p:nvPr>
        </p:nvSpPr>
        <p:spPr/>
        <p:txBody>
          <a:bodyPr/>
          <a:lstStyle/>
          <a:p>
            <a:fld id="{5D6495F3-B757-4FAF-98AA-EDA7D1485485}" type="datetimeFigureOut">
              <a:rPr lang="en-US" smtClean="0"/>
              <a:t>10/23/2026</a:t>
            </a:fld>
            <a:endParaRPr lang="en-US"/>
          </a:p>
        </p:txBody>
      </p:sp>
      <p:sp>
        <p:nvSpPr>
          <p:cNvPr id="5" name="Footer Placeholder 4">
            <a:extLst>
              <a:ext uri="{FF2B5EF4-FFF2-40B4-BE49-F238E27FC236}">
                <a16:creationId xmlns:a16="http://schemas.microsoft.com/office/drawing/2014/main" id="{DCF05BE2-6C23-4CB4-A63E-457E635BF26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C097965-24FE-4C07-BE16-69AE439950EF}"/>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2757682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33394D-04EF-440C-B08B-114464B315C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BEBE3F6-F021-4D6B-8B0D-EF74D7461F9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196233C-6806-4593-91C0-CF4ECD84A601}"/>
              </a:ext>
            </a:extLst>
          </p:cNvPr>
          <p:cNvSpPr>
            <a:spLocks noGrp="1"/>
          </p:cNvSpPr>
          <p:nvPr>
            <p:ph type="dt" sz="half" idx="10"/>
          </p:nvPr>
        </p:nvSpPr>
        <p:spPr/>
        <p:txBody>
          <a:bodyPr/>
          <a:lstStyle/>
          <a:p>
            <a:fld id="{5D6495F3-B757-4FAF-98AA-EDA7D1485485}" type="datetimeFigureOut">
              <a:rPr lang="en-US" smtClean="0"/>
              <a:t>10/23/2026</a:t>
            </a:fld>
            <a:endParaRPr lang="en-US"/>
          </a:p>
        </p:txBody>
      </p:sp>
      <p:sp>
        <p:nvSpPr>
          <p:cNvPr id="5" name="Footer Placeholder 4">
            <a:extLst>
              <a:ext uri="{FF2B5EF4-FFF2-40B4-BE49-F238E27FC236}">
                <a16:creationId xmlns:a16="http://schemas.microsoft.com/office/drawing/2014/main" id="{963A761E-2D3A-4397-A82C-2F3B981DE04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297E71-B59F-4260-B01B-2B7CEB0896BD}"/>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6393263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94DFCB-DD40-4637-9CAB-2BAF24231C7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394065F-4B44-4622-98EE-166F936489F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7AF1249-B890-4466-9E24-84A24907008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50FA9B4-D282-452F-B78A-FF5873ACF45A}"/>
              </a:ext>
            </a:extLst>
          </p:cNvPr>
          <p:cNvSpPr>
            <a:spLocks noGrp="1"/>
          </p:cNvSpPr>
          <p:nvPr>
            <p:ph type="dt" sz="half" idx="10"/>
          </p:nvPr>
        </p:nvSpPr>
        <p:spPr/>
        <p:txBody>
          <a:bodyPr/>
          <a:lstStyle/>
          <a:p>
            <a:fld id="{5D6495F3-B757-4FAF-98AA-EDA7D1485485}" type="datetimeFigureOut">
              <a:rPr lang="en-US" smtClean="0"/>
              <a:t>10/23/2026</a:t>
            </a:fld>
            <a:endParaRPr lang="en-US"/>
          </a:p>
        </p:txBody>
      </p:sp>
      <p:sp>
        <p:nvSpPr>
          <p:cNvPr id="6" name="Footer Placeholder 5">
            <a:extLst>
              <a:ext uri="{FF2B5EF4-FFF2-40B4-BE49-F238E27FC236}">
                <a16:creationId xmlns:a16="http://schemas.microsoft.com/office/drawing/2014/main" id="{6E9B0F13-A139-4B66-9544-16480800F68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8791D0-EC30-4D8C-8764-475D8DB34F19}"/>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0815023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33AA7D-15D2-4D5F-B1C4-501073416DE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5E80A0E-25B9-4E8E-8B0D-201E1C56409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189B111-0CA0-47CD-9F0B-DBCBA3AE3C2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EF0E02D-3176-4B85-ACB6-721F2682742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C7D9317-BBE1-4F36-82FE-E348F6F18A9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837DDCB-69F8-49FA-A111-C8AB271389E7}"/>
              </a:ext>
            </a:extLst>
          </p:cNvPr>
          <p:cNvSpPr>
            <a:spLocks noGrp="1"/>
          </p:cNvSpPr>
          <p:nvPr>
            <p:ph type="dt" sz="half" idx="10"/>
          </p:nvPr>
        </p:nvSpPr>
        <p:spPr/>
        <p:txBody>
          <a:bodyPr/>
          <a:lstStyle/>
          <a:p>
            <a:fld id="{5D6495F3-B757-4FAF-98AA-EDA7D1485485}" type="datetimeFigureOut">
              <a:rPr lang="en-US" smtClean="0"/>
              <a:t>10/23/2026</a:t>
            </a:fld>
            <a:endParaRPr lang="en-US"/>
          </a:p>
        </p:txBody>
      </p:sp>
      <p:sp>
        <p:nvSpPr>
          <p:cNvPr id="8" name="Footer Placeholder 7">
            <a:extLst>
              <a:ext uri="{FF2B5EF4-FFF2-40B4-BE49-F238E27FC236}">
                <a16:creationId xmlns:a16="http://schemas.microsoft.com/office/drawing/2014/main" id="{4A18B0CD-1F68-412E-9232-F267114CA75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29B21FC-12CC-472D-BC38-EF413158CC5D}"/>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8941432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0F51AB-8384-4E67-914C-B39484AD233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0909660-3861-4545-BF68-9ED039B5D0F0}"/>
              </a:ext>
            </a:extLst>
          </p:cNvPr>
          <p:cNvSpPr>
            <a:spLocks noGrp="1"/>
          </p:cNvSpPr>
          <p:nvPr>
            <p:ph type="dt" sz="half" idx="10"/>
          </p:nvPr>
        </p:nvSpPr>
        <p:spPr/>
        <p:txBody>
          <a:bodyPr/>
          <a:lstStyle/>
          <a:p>
            <a:fld id="{5D6495F3-B757-4FAF-98AA-EDA7D1485485}" type="datetimeFigureOut">
              <a:rPr lang="en-US" smtClean="0"/>
              <a:t>10/23/2026</a:t>
            </a:fld>
            <a:endParaRPr lang="en-US"/>
          </a:p>
        </p:txBody>
      </p:sp>
      <p:sp>
        <p:nvSpPr>
          <p:cNvPr id="4" name="Footer Placeholder 3">
            <a:extLst>
              <a:ext uri="{FF2B5EF4-FFF2-40B4-BE49-F238E27FC236}">
                <a16:creationId xmlns:a16="http://schemas.microsoft.com/office/drawing/2014/main" id="{FDDD5392-AC3A-4EAF-ADE6-B6CF4B50ACA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5679880-BF48-4F4D-B8B3-4E99FC415FF9}"/>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3514890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7F98E25-CF37-4F73-9E22-210238167867}"/>
              </a:ext>
            </a:extLst>
          </p:cNvPr>
          <p:cNvSpPr>
            <a:spLocks noGrp="1"/>
          </p:cNvSpPr>
          <p:nvPr>
            <p:ph type="dt" sz="half" idx="10"/>
          </p:nvPr>
        </p:nvSpPr>
        <p:spPr/>
        <p:txBody>
          <a:bodyPr/>
          <a:lstStyle/>
          <a:p>
            <a:fld id="{5D6495F3-B757-4FAF-98AA-EDA7D1485485}" type="datetimeFigureOut">
              <a:rPr lang="en-US" smtClean="0"/>
              <a:t>10/23/2026</a:t>
            </a:fld>
            <a:endParaRPr lang="en-US"/>
          </a:p>
        </p:txBody>
      </p:sp>
      <p:sp>
        <p:nvSpPr>
          <p:cNvPr id="3" name="Footer Placeholder 2">
            <a:extLst>
              <a:ext uri="{FF2B5EF4-FFF2-40B4-BE49-F238E27FC236}">
                <a16:creationId xmlns:a16="http://schemas.microsoft.com/office/drawing/2014/main" id="{89D7A0E1-38AB-4FDA-8EC1-2D7617909C1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8A8E424-5A91-4557-9ADF-4A9422A0690D}"/>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4978027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6BB935-0427-44CC-A384-333EAD83175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CB9DCF6-55CF-43EE-B135-BFC4B4D403C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337538E-A112-4E8F-A445-1A06B0C3530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30D413-9505-4ED8-BFF1-5141BE9EE3C4}"/>
              </a:ext>
            </a:extLst>
          </p:cNvPr>
          <p:cNvSpPr>
            <a:spLocks noGrp="1"/>
          </p:cNvSpPr>
          <p:nvPr>
            <p:ph type="dt" sz="half" idx="10"/>
          </p:nvPr>
        </p:nvSpPr>
        <p:spPr/>
        <p:txBody>
          <a:bodyPr/>
          <a:lstStyle/>
          <a:p>
            <a:fld id="{5D6495F3-B757-4FAF-98AA-EDA7D1485485}" type="datetimeFigureOut">
              <a:rPr lang="en-US" smtClean="0"/>
              <a:t>10/23/2026</a:t>
            </a:fld>
            <a:endParaRPr lang="en-US"/>
          </a:p>
        </p:txBody>
      </p:sp>
      <p:sp>
        <p:nvSpPr>
          <p:cNvPr id="6" name="Footer Placeholder 5">
            <a:extLst>
              <a:ext uri="{FF2B5EF4-FFF2-40B4-BE49-F238E27FC236}">
                <a16:creationId xmlns:a16="http://schemas.microsoft.com/office/drawing/2014/main" id="{F60815B0-4528-4FA2-8472-8F19C0F1650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5C9FCEF-4406-4552-BFE4-6DA3761357F2}"/>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37540635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CE22C-69D4-49EC-8858-787B3C67B0D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46A4341-3C0B-4025-AE17-8F0F8FABF5D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DEF5FF01-E0B6-419C-ABCC-70844E4EACB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501218-FFD7-4F25-B220-F5DE5F70693C}"/>
              </a:ext>
            </a:extLst>
          </p:cNvPr>
          <p:cNvSpPr>
            <a:spLocks noGrp="1"/>
          </p:cNvSpPr>
          <p:nvPr>
            <p:ph type="dt" sz="half" idx="10"/>
          </p:nvPr>
        </p:nvSpPr>
        <p:spPr/>
        <p:txBody>
          <a:bodyPr/>
          <a:lstStyle/>
          <a:p>
            <a:fld id="{5D6495F3-B757-4FAF-98AA-EDA7D1485485}" type="datetimeFigureOut">
              <a:rPr lang="en-US" smtClean="0"/>
              <a:t>10/23/2026</a:t>
            </a:fld>
            <a:endParaRPr lang="en-US"/>
          </a:p>
        </p:txBody>
      </p:sp>
      <p:sp>
        <p:nvSpPr>
          <p:cNvPr id="6" name="Footer Placeholder 5">
            <a:extLst>
              <a:ext uri="{FF2B5EF4-FFF2-40B4-BE49-F238E27FC236}">
                <a16:creationId xmlns:a16="http://schemas.microsoft.com/office/drawing/2014/main" id="{9687CBFB-34A6-49D8-A1D2-45DF38876EE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C2726A4-D33A-486A-B120-648AF3D8BA76}"/>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26447433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3B8678-553E-4A5B-8CFE-5DB358BDF35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43AF303-1F73-4575-83E6-561589F1632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436EC56-7DCF-400D-A871-C26291EB10AD}"/>
              </a:ext>
            </a:extLst>
          </p:cNvPr>
          <p:cNvSpPr>
            <a:spLocks noGrp="1"/>
          </p:cNvSpPr>
          <p:nvPr>
            <p:ph type="dt" sz="half" idx="10"/>
          </p:nvPr>
        </p:nvSpPr>
        <p:spPr/>
        <p:txBody>
          <a:bodyPr/>
          <a:lstStyle/>
          <a:p>
            <a:fld id="{5D6495F3-B757-4FAF-98AA-EDA7D1485485}" type="datetimeFigureOut">
              <a:rPr lang="en-US" smtClean="0"/>
              <a:t>10/23/2026</a:t>
            </a:fld>
            <a:endParaRPr lang="en-US"/>
          </a:p>
        </p:txBody>
      </p:sp>
      <p:sp>
        <p:nvSpPr>
          <p:cNvPr id="5" name="Footer Placeholder 4">
            <a:extLst>
              <a:ext uri="{FF2B5EF4-FFF2-40B4-BE49-F238E27FC236}">
                <a16:creationId xmlns:a16="http://schemas.microsoft.com/office/drawing/2014/main" id="{17FFAC5B-7C77-4F8C-ADB0-8D208A2EB30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2F48AF-AB8F-4DD2-BC77-7E2F42AD3B87}"/>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31873178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20ED820-BFE6-41B5-8064-984037A999A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CA27FEA-5359-474A-B4F8-FF510DD7489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14DD33D-563C-4B8C-B8C1-625FF5C5B85D}"/>
              </a:ext>
            </a:extLst>
          </p:cNvPr>
          <p:cNvSpPr>
            <a:spLocks noGrp="1"/>
          </p:cNvSpPr>
          <p:nvPr>
            <p:ph type="dt" sz="half" idx="10"/>
          </p:nvPr>
        </p:nvSpPr>
        <p:spPr/>
        <p:txBody>
          <a:bodyPr/>
          <a:lstStyle/>
          <a:p>
            <a:fld id="{5D6495F3-B757-4FAF-98AA-EDA7D1485485}" type="datetimeFigureOut">
              <a:rPr lang="en-US" smtClean="0"/>
              <a:t>10/23/2026</a:t>
            </a:fld>
            <a:endParaRPr lang="en-US"/>
          </a:p>
        </p:txBody>
      </p:sp>
      <p:sp>
        <p:nvSpPr>
          <p:cNvPr id="5" name="Footer Placeholder 4">
            <a:extLst>
              <a:ext uri="{FF2B5EF4-FFF2-40B4-BE49-F238E27FC236}">
                <a16:creationId xmlns:a16="http://schemas.microsoft.com/office/drawing/2014/main" id="{40471877-89FD-46BE-832F-C5660A5567D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6E675F-CC4D-48CF-90C8-53829EE08B8C}"/>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24546216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C07C8C3-4165-4353-ABF2-492454AF91E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89AA46A-3C66-4E4A-9907-225E50ABB7A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57F8214-A11A-4309-9D51-44F35987D1B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D6495F3-B757-4FAF-98AA-EDA7D1485485}" type="datetimeFigureOut">
              <a:rPr lang="en-US" smtClean="0"/>
              <a:t>10/23/2026</a:t>
            </a:fld>
            <a:endParaRPr lang="en-US"/>
          </a:p>
        </p:txBody>
      </p:sp>
      <p:sp>
        <p:nvSpPr>
          <p:cNvPr id="5" name="Footer Placeholder 4">
            <a:extLst>
              <a:ext uri="{FF2B5EF4-FFF2-40B4-BE49-F238E27FC236}">
                <a16:creationId xmlns:a16="http://schemas.microsoft.com/office/drawing/2014/main" id="{D6A334EB-8260-4F13-9553-5A8593D9DC6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0C1EF96-E028-4E68-864E-9B77CF9F25E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E1939C1-24D7-49E9-A58A-7960365209F5}" type="slidenum">
              <a:rPr lang="en-US" smtClean="0"/>
              <a:t>‹#›</a:t>
            </a:fld>
            <a:endParaRPr lang="en-US"/>
          </a:p>
        </p:txBody>
      </p:sp>
    </p:spTree>
    <p:extLst>
      <p:ext uri="{BB962C8B-B14F-4D97-AF65-F5344CB8AC3E}">
        <p14:creationId xmlns:p14="http://schemas.microsoft.com/office/powerpoint/2010/main" val="18259450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3.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4.xml"/><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5.xml"/><Relationship Id="rId5" Type="http://schemas.openxmlformats.org/officeDocument/2006/relationships/image" Target="../media/image4.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6.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7.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3962611-DFD5-4092-AAFD-559E3DFCE2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5488" y="0"/>
            <a:ext cx="10910292"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2270F1FA-0425-408F-9861-80BF5AFB276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3045368" y="2043663"/>
            <a:ext cx="6105194" cy="2031055"/>
          </a:xfrm>
        </p:spPr>
        <p:txBody>
          <a:bodyPr>
            <a:normAutofit/>
          </a:bodyPr>
          <a:lstStyle/>
          <a:p>
            <a:r>
              <a:rPr lang="en-US" dirty="0" err="1">
                <a:solidFill>
                  <a:srgbClr val="FFFFFF"/>
                </a:solidFill>
              </a:rPr>
              <a:t>DriverPass</a:t>
            </a:r>
            <a:br>
              <a:rPr lang="en-US" dirty="0">
                <a:solidFill>
                  <a:srgbClr val="FFFFFF"/>
                </a:solidFill>
              </a:rPr>
            </a:br>
            <a:r>
              <a:rPr lang="en-US" dirty="0">
                <a:solidFill>
                  <a:srgbClr val="FFFFFF"/>
                </a:solidFill>
              </a:rPr>
              <a:t>System Analysis</a:t>
            </a:r>
          </a:p>
        </p:txBody>
      </p:sp>
      <p:sp>
        <p:nvSpPr>
          <p:cNvPr id="3" name="Content Placeholder 2"/>
          <p:cNvSpPr>
            <a:spLocks noGrp="1"/>
          </p:cNvSpPr>
          <p:nvPr>
            <p:ph type="subTitle" idx="1"/>
          </p:nvPr>
        </p:nvSpPr>
        <p:spPr>
          <a:xfrm>
            <a:off x="3045368" y="4074718"/>
            <a:ext cx="6105194" cy="682079"/>
          </a:xfrm>
        </p:spPr>
        <p:txBody>
          <a:bodyPr>
            <a:normAutofit/>
          </a:bodyPr>
          <a:lstStyle/>
          <a:p>
            <a:r>
              <a:rPr lang="en-US" dirty="0">
                <a:solidFill>
                  <a:srgbClr val="FFFFFF"/>
                </a:solidFill>
              </a:rPr>
              <a:t>[Jonathan Brennan]</a:t>
            </a:r>
            <a:endParaRPr dirty="0">
              <a:solidFill>
                <a:srgbClr val="FFFFFF"/>
              </a:solidFill>
            </a:endParaRPr>
          </a:p>
        </p:txBody>
      </p:sp>
    </p:spTree>
    <p:custDataLst>
      <p:tags r:id="rId1"/>
    </p:custDataLst>
    <p:extLst>
      <p:ext uri="{BB962C8B-B14F-4D97-AF65-F5344CB8AC3E}">
        <p14:creationId xmlns:p14="http://schemas.microsoft.com/office/powerpoint/2010/main" val="409182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System Requirements</a:t>
            </a:r>
          </a:p>
        </p:txBody>
      </p:sp>
      <p:sp>
        <p:nvSpPr>
          <p:cNvPr id="3" name="Content Placeholder 2"/>
          <p:cNvSpPr>
            <a:spLocks noGrp="1"/>
          </p:cNvSpPr>
          <p:nvPr>
            <p:ph idx="1"/>
          </p:nvPr>
        </p:nvSpPr>
        <p:spPr>
          <a:xfrm>
            <a:off x="6090574" y="801866"/>
            <a:ext cx="5306084" cy="5230634"/>
          </a:xfrm>
        </p:spPr>
        <p:txBody>
          <a:bodyPr anchor="ctr">
            <a:normAutofit/>
          </a:bodyPr>
          <a:lstStyle/>
          <a:p>
            <a:pPr lvl="0"/>
            <a:r>
              <a:rPr lang="en-US" b="1" dirty="0"/>
              <a:t>Real-Time Booking:</a:t>
            </a:r>
            <a:r>
              <a:rPr lang="en-US" dirty="0"/>
              <a:t> Students book lessons instantly from any device.</a:t>
            </a:r>
          </a:p>
          <a:p>
            <a:pPr lvl="0"/>
            <a:r>
              <a:rPr lang="en-US" b="1" dirty="0"/>
              <a:t>Instant Grading:</a:t>
            </a:r>
            <a:r>
              <a:rPr lang="en-US" dirty="0"/>
              <a:t> Practice tests grade themselves and log progress automatically.</a:t>
            </a:r>
          </a:p>
          <a:p>
            <a:pPr lvl="0"/>
            <a:r>
              <a:rPr lang="en-US" b="1" dirty="0"/>
              <a:t>Fast Loading:</a:t>
            </a:r>
            <a:r>
              <a:rPr lang="en-US" dirty="0"/>
              <a:t> Pages load in under 2 seconds.</a:t>
            </a:r>
          </a:p>
          <a:p>
            <a:pPr lvl="0"/>
            <a:r>
              <a:rPr lang="en-US" b="1" dirty="0"/>
              <a:t>Account Safety:</a:t>
            </a:r>
            <a:r>
              <a:rPr lang="en-US" dirty="0"/>
              <a:t> Accounts lock after 5 failed login attempts to protect data.</a:t>
            </a:r>
          </a:p>
        </p:txBody>
      </p:sp>
    </p:spTree>
    <p:custDataLst>
      <p:tags r:id="rId1"/>
    </p:custDataLst>
    <p:extLst>
      <p:ext uri="{BB962C8B-B14F-4D97-AF65-F5344CB8AC3E}">
        <p14:creationId xmlns:p14="http://schemas.microsoft.com/office/powerpoint/2010/main" val="18658859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Use Case Diagram</a:t>
            </a:r>
          </a:p>
        </p:txBody>
      </p:sp>
      <p:sp>
        <p:nvSpPr>
          <p:cNvPr id="3" name="Content Placeholder 2"/>
          <p:cNvSpPr>
            <a:spLocks noGrp="1"/>
          </p:cNvSpPr>
          <p:nvPr>
            <p:ph idx="1"/>
          </p:nvPr>
        </p:nvSpPr>
        <p:spPr>
          <a:xfrm>
            <a:off x="5198076" y="4097902"/>
            <a:ext cx="6198582" cy="2760098"/>
          </a:xfrm>
        </p:spPr>
        <p:txBody>
          <a:bodyPr anchor="ctr">
            <a:normAutofit fontScale="92500" lnSpcReduction="10000"/>
          </a:bodyPr>
          <a:lstStyle/>
          <a:p>
            <a:pPr lvl="0"/>
            <a:r>
              <a:rPr lang="en-US" b="1" dirty="0"/>
              <a:t>User Roles:</a:t>
            </a:r>
            <a:r>
              <a:rPr lang="en-US" dirty="0"/>
              <a:t> Mentions Students, Instructors, and Administrative Staff.</a:t>
            </a:r>
          </a:p>
          <a:p>
            <a:pPr lvl="0"/>
            <a:r>
              <a:rPr lang="en-US" b="1" dirty="0"/>
              <a:t>Core Interactions:</a:t>
            </a:r>
            <a:r>
              <a:rPr lang="en-US" dirty="0"/>
              <a:t> Maps out account logging, scheduling lessons, and taking tests.</a:t>
            </a:r>
          </a:p>
          <a:p>
            <a:pPr lvl="0"/>
            <a:r>
              <a:rPr lang="en-US" b="1" dirty="0"/>
              <a:t>Payment Link:</a:t>
            </a:r>
            <a:r>
              <a:rPr lang="en-US" dirty="0"/>
              <a:t> Automatically prompts payment processing during lesson booking.</a:t>
            </a:r>
          </a:p>
          <a:p>
            <a:pPr marL="0" indent="0">
              <a:buNone/>
            </a:pPr>
            <a:endParaRPr sz="2400" dirty="0">
              <a:solidFill>
                <a:srgbClr val="000000"/>
              </a:solidFill>
            </a:endParaRPr>
          </a:p>
        </p:txBody>
      </p:sp>
      <p:pic>
        <p:nvPicPr>
          <p:cNvPr id="4" name="Picture 3">
            <a:extLst>
              <a:ext uri="{FF2B5EF4-FFF2-40B4-BE49-F238E27FC236}">
                <a16:creationId xmlns:a16="http://schemas.microsoft.com/office/drawing/2014/main" id="{B76349F9-2B9C-E9F8-FC65-9DF0AA9E3092}"/>
              </a:ext>
            </a:extLst>
          </p:cNvPr>
          <p:cNvPicPr>
            <a:picLocks noChangeAspect="1"/>
          </p:cNvPicPr>
          <p:nvPr/>
        </p:nvPicPr>
        <p:blipFill>
          <a:blip r:embed="rId5"/>
          <a:stretch>
            <a:fillRect/>
          </a:stretch>
        </p:blipFill>
        <p:spPr>
          <a:xfrm>
            <a:off x="5947720" y="100702"/>
            <a:ext cx="5099221" cy="3896498"/>
          </a:xfrm>
          <a:prstGeom prst="rect">
            <a:avLst/>
          </a:prstGeom>
        </p:spPr>
      </p:pic>
    </p:spTree>
    <p:custDataLst>
      <p:tags r:id="rId1"/>
    </p:custDataLst>
    <p:extLst>
      <p:ext uri="{BB962C8B-B14F-4D97-AF65-F5344CB8AC3E}">
        <p14:creationId xmlns:p14="http://schemas.microsoft.com/office/powerpoint/2010/main" val="27764253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Activity</a:t>
            </a:r>
            <a:br>
              <a:rPr lang="en-US" dirty="0">
                <a:solidFill>
                  <a:schemeClr val="bg1"/>
                </a:solidFill>
              </a:rPr>
            </a:br>
            <a:r>
              <a:rPr lang="en-US" dirty="0">
                <a:solidFill>
                  <a:schemeClr val="bg1"/>
                </a:solidFill>
              </a:rPr>
              <a:t>Diagram</a:t>
            </a:r>
          </a:p>
        </p:txBody>
      </p:sp>
      <p:pic>
        <p:nvPicPr>
          <p:cNvPr id="4" name="Content Placeholder 3">
            <a:extLst>
              <a:ext uri="{FF2B5EF4-FFF2-40B4-BE49-F238E27FC236}">
                <a16:creationId xmlns:a16="http://schemas.microsoft.com/office/drawing/2014/main" id="{C0DB1FBC-2079-AB66-1E1A-A379F0F17C70}"/>
              </a:ext>
            </a:extLst>
          </p:cNvPr>
          <p:cNvPicPr>
            <a:picLocks noGrp="1" noChangeAspect="1"/>
          </p:cNvPicPr>
          <p:nvPr>
            <p:ph idx="1"/>
          </p:nvPr>
        </p:nvPicPr>
        <p:blipFill>
          <a:blip r:embed="rId5"/>
          <a:stretch>
            <a:fillRect/>
          </a:stretch>
        </p:blipFill>
        <p:spPr>
          <a:xfrm>
            <a:off x="6359611" y="56437"/>
            <a:ext cx="5659393" cy="6733162"/>
          </a:xfrm>
          <a:prstGeom prst="rect">
            <a:avLst/>
          </a:prstGeom>
        </p:spPr>
      </p:pic>
    </p:spTree>
    <p:custDataLst>
      <p:tags r:id="rId1"/>
    </p:custDataLst>
    <p:extLst>
      <p:ext uri="{BB962C8B-B14F-4D97-AF65-F5344CB8AC3E}">
        <p14:creationId xmlns:p14="http://schemas.microsoft.com/office/powerpoint/2010/main" val="35640556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Security</a:t>
            </a:r>
          </a:p>
        </p:txBody>
      </p:sp>
      <p:sp>
        <p:nvSpPr>
          <p:cNvPr id="3" name="Content Placeholder 2"/>
          <p:cNvSpPr>
            <a:spLocks noGrp="1"/>
          </p:cNvSpPr>
          <p:nvPr>
            <p:ph idx="1"/>
          </p:nvPr>
        </p:nvSpPr>
        <p:spPr>
          <a:xfrm>
            <a:off x="6090574" y="801866"/>
            <a:ext cx="5306084" cy="5821356"/>
          </a:xfrm>
        </p:spPr>
        <p:txBody>
          <a:bodyPr anchor="ctr">
            <a:normAutofit fontScale="92500" lnSpcReduction="10000"/>
          </a:bodyPr>
          <a:lstStyle/>
          <a:p>
            <a:pPr lvl="0"/>
            <a:r>
              <a:rPr lang="en-US" b="1" dirty="0"/>
              <a:t>Data Encryption:</a:t>
            </a:r>
            <a:r>
              <a:rPr lang="en-US" dirty="0"/>
              <a:t> Scrambles student login passwords and card information so they cannot be stolen.</a:t>
            </a:r>
          </a:p>
          <a:p>
            <a:pPr lvl="0"/>
            <a:r>
              <a:rPr lang="en-US" b="1" dirty="0"/>
              <a:t>Hacking Prevention:</a:t>
            </a:r>
            <a:r>
              <a:rPr lang="en-US" dirty="0"/>
              <a:t> Temporarily blocks access for 15 minutes after 5 bad login attempts.</a:t>
            </a:r>
          </a:p>
          <a:p>
            <a:pPr lvl="0"/>
            <a:r>
              <a:rPr lang="en-US" b="1" dirty="0"/>
              <a:t>Safe Password Recovery:</a:t>
            </a:r>
            <a:r>
              <a:rPr lang="en-US" dirty="0"/>
              <a:t> Emails a secure, timed reset link if a user forgets their password.</a:t>
            </a:r>
          </a:p>
          <a:p>
            <a:pPr lvl="0"/>
            <a:r>
              <a:rPr lang="en-US" b="1" dirty="0"/>
              <a:t>Secure Connections:</a:t>
            </a:r>
            <a:r>
              <a:rPr lang="en-US" dirty="0"/>
              <a:t> Uses protected web networks to safeguard all traffic between students and servers.</a:t>
            </a:r>
          </a:p>
          <a:p>
            <a:br>
              <a:rPr lang="en-US" sz="2400" dirty="0"/>
            </a:br>
            <a:endParaRPr lang="en-US" sz="2400" dirty="0"/>
          </a:p>
          <a:p>
            <a:endParaRPr sz="2400" dirty="0">
              <a:solidFill>
                <a:srgbClr val="000000"/>
              </a:solidFill>
            </a:endParaRPr>
          </a:p>
        </p:txBody>
      </p:sp>
    </p:spTree>
    <p:custDataLst>
      <p:tags r:id="rId1"/>
    </p:custDataLst>
    <p:extLst>
      <p:ext uri="{BB962C8B-B14F-4D97-AF65-F5344CB8AC3E}">
        <p14:creationId xmlns:p14="http://schemas.microsoft.com/office/powerpoint/2010/main" val="3768431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System Limitations</a:t>
            </a:r>
          </a:p>
        </p:txBody>
      </p:sp>
      <p:sp>
        <p:nvSpPr>
          <p:cNvPr id="3" name="Content Placeholder 2"/>
          <p:cNvSpPr>
            <a:spLocks noGrp="1"/>
          </p:cNvSpPr>
          <p:nvPr>
            <p:ph type="body" idx="1"/>
          </p:nvPr>
        </p:nvSpPr>
        <p:spPr>
          <a:xfrm>
            <a:off x="6090574" y="801865"/>
            <a:ext cx="5306084" cy="5730739"/>
          </a:xfrm>
        </p:spPr>
        <p:txBody>
          <a:bodyPr anchor="ctr">
            <a:normAutofit fontScale="92500" lnSpcReduction="20000"/>
          </a:bodyPr>
          <a:lstStyle/>
          <a:p>
            <a:pPr lvl="0"/>
            <a:r>
              <a:rPr lang="en-US" b="1" dirty="0"/>
              <a:t>No Offline Mode:</a:t>
            </a:r>
            <a:r>
              <a:rPr lang="en-US" dirty="0"/>
              <a:t> Users must have an active internet connection to book lessons or take tests.</a:t>
            </a:r>
          </a:p>
          <a:p>
            <a:pPr lvl="0"/>
            <a:r>
              <a:rPr lang="en-US" b="1" dirty="0"/>
              <a:t>No Fleet Tracking:</a:t>
            </a:r>
            <a:r>
              <a:rPr lang="en-US" dirty="0"/>
              <a:t> The system does not track car fuel levels, maintenance, or vehicle GPS locations.</a:t>
            </a:r>
          </a:p>
          <a:p>
            <a:pPr lvl="0"/>
            <a:r>
              <a:rPr lang="en-US" b="1" dirty="0"/>
              <a:t>No Tax Accounting:</a:t>
            </a:r>
            <a:r>
              <a:rPr lang="en-US" dirty="0"/>
              <a:t> Corporate tax filings and employee payroll processing are outside the system's scope.</a:t>
            </a:r>
          </a:p>
          <a:p>
            <a:pPr lvl="0"/>
            <a:r>
              <a:rPr lang="en-US" b="1" dirty="0"/>
              <a:t>Third-Party Dependency:</a:t>
            </a:r>
            <a:r>
              <a:rPr lang="en-US" dirty="0"/>
              <a:t> relies entirely on external banking networks to process financial transactions.</a:t>
            </a:r>
          </a:p>
          <a:p>
            <a:br>
              <a:rPr lang="en-US" sz="2400" dirty="0"/>
            </a:br>
            <a:endParaRPr lang="en-US" sz="2400" dirty="0"/>
          </a:p>
          <a:p>
            <a:endParaRPr sz="2400" dirty="0">
              <a:solidFill>
                <a:srgbClr val="000000"/>
              </a:solidFill>
            </a:endParaRPr>
          </a:p>
        </p:txBody>
      </p:sp>
    </p:spTree>
    <p:custDataLst>
      <p:tags r:id="rId1"/>
    </p:custDataLst>
    <p:extLst>
      <p:ext uri="{BB962C8B-B14F-4D97-AF65-F5344CB8AC3E}">
        <p14:creationId xmlns:p14="http://schemas.microsoft.com/office/powerpoint/2010/main" val="322514164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6"/>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WebD281</Template>
  <TotalTime>1371</TotalTime>
  <Words>614</Words>
  <Application>Microsoft Office PowerPoint</Application>
  <PresentationFormat>Widescreen</PresentationFormat>
  <Paragraphs>36</Paragraphs>
  <Slides>6</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Calibri</vt:lpstr>
      <vt:lpstr>Calibri Light</vt:lpstr>
      <vt:lpstr>Office Theme</vt:lpstr>
      <vt:lpstr>DriverPass System Analysis</vt:lpstr>
      <vt:lpstr>System Requirements</vt:lpstr>
      <vt:lpstr>Use Case Diagram</vt:lpstr>
      <vt:lpstr>Activity Diagram</vt:lpstr>
      <vt:lpstr>Security</vt:lpstr>
      <vt:lpstr>System Limitations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Systems Analysis</dc:title>
  <dc:creator>Loay Alnaji</dc:creator>
  <cp:lastModifiedBy>John B</cp:lastModifiedBy>
  <cp:revision>21</cp:revision>
  <dcterms:created xsi:type="dcterms:W3CDTF">2019-10-14T02:36:52Z</dcterms:created>
  <dcterms:modified xsi:type="dcterms:W3CDTF">2026-10-23T21:47:05Z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17B2C008-CF5F-4D7E-BF2C-A283A0269B28</vt:lpwstr>
  </property>
  <property fmtid="{D5CDD505-2E9C-101B-9397-08002B2CF9AE}" pid="3" name="ArticulatePath">
    <vt:lpwstr>CS 255 Client Presentation Template</vt:lpwstr>
  </property>
</Properties>
</file>